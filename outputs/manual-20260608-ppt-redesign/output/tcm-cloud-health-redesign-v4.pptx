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424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4F0"/>
          </a:solidFill>
          <a:ln w="12700">
            <a:solidFill>
              <a:srgbClr val="EEF4F0"/>
            </a:solidFill>
            <a:prstDash val="solid"/>
          </a:ln>
        </p:spPr>
      </p:sp>
      <p:pic>
        <p:nvPicPr>
          <p:cNvPr id="3" name="Image 0" descr="C:\Users\Administrator\Documents\中医云健康app\outputs\manual-20260608-ppt-redesign\presentations\tcm-health-redesign\assets\image2-health-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5">
              <a:alpha val="78000"/>
            </a:srgbClr>
          </a:solidFill>
          <a:ln w="12700">
            <a:solidFill>
              <a:srgbClr val="F4F8F5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3504" y="658368"/>
            <a:ext cx="5074920" cy="5074920"/>
          </a:xfrm>
          <a:prstGeom prst="roundRect">
            <a:avLst>
              <a:gd name="adj" fmla="val 2523"/>
            </a:avLst>
          </a:prstGeom>
          <a:solidFill>
            <a:srgbClr val="FFFFFF">
              <a:alpha val="92000"/>
            </a:srgbClr>
          </a:solidFill>
          <a:ln w="11430">
            <a:solidFill>
              <a:srgbClr val="E5ECE7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02920" y="2560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REPORT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201400" y="64373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77824" y="1005840"/>
            <a:ext cx="4526280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把传染病健康管理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装进手机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877824" y="2724912"/>
            <a:ext cx="4389120" cy="8595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中医云健康 App 围绕传染病方向，把风险提示、问诊建议、检测记录、疾病档案和康复管理串成一条日常使用路径。</a:t>
            </a:r>
            <a:endParaRPr lang="en-US" sz="1320" dirty="0"/>
          </a:p>
        </p:txBody>
      </p:sp>
      <p:sp>
        <p:nvSpPr>
          <p:cNvPr id="10" name="Shape 7"/>
          <p:cNvSpPr/>
          <p:nvPr/>
        </p:nvSpPr>
        <p:spPr>
          <a:xfrm>
            <a:off x="868680" y="4041648"/>
            <a:ext cx="1024128" cy="310896"/>
          </a:xfrm>
          <a:prstGeom prst="roundRect">
            <a:avLst>
              <a:gd name="adj" fmla="val 35294"/>
            </a:avLst>
          </a:prstGeom>
          <a:solidFill>
            <a:srgbClr val="DFF3EE"/>
          </a:solidFill>
          <a:ln w="12700">
            <a:solidFill>
              <a:srgbClr val="DFF3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4110228"/>
            <a:ext cx="102412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7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传染病方向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2029968" y="4041648"/>
            <a:ext cx="932688" cy="310896"/>
          </a:xfrm>
          <a:prstGeom prst="roundRect">
            <a:avLst>
              <a:gd name="adj" fmla="val 35294"/>
            </a:avLst>
          </a:prstGeom>
          <a:solidFill>
            <a:srgbClr val="E7EDFF"/>
          </a:solidFill>
          <a:ln w="12700">
            <a:solidFill>
              <a:srgbClr val="E7ED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029968" y="4110228"/>
            <a:ext cx="9326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E6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可运行 App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099816" y="4041648"/>
            <a:ext cx="896112" cy="310896"/>
          </a:xfrm>
          <a:prstGeom prst="roundRect">
            <a:avLst>
              <a:gd name="adj" fmla="val 35294"/>
            </a:avLst>
          </a:prstGeom>
          <a:solidFill>
            <a:srgbClr val="FFF2CF"/>
          </a:solidFill>
          <a:ln w="12700">
            <a:solidFill>
              <a:srgbClr val="FFF2C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99816" y="4110228"/>
            <a:ext cx="8961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8C62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APK 实测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896112" y="4572000"/>
            <a:ext cx="4187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这份汇报重点看产品如何被使用，而不只是列出做了哪些页面。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896112" y="499262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b="1" dirty="0">
                <a:solidFill>
                  <a:srgbClr val="0959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汇报结构</a:t>
            </a:r>
            <a:endParaRPr lang="en-US" sz="880" dirty="0"/>
          </a:p>
        </p:txBody>
      </p:sp>
      <p:sp>
        <p:nvSpPr>
          <p:cNvPr id="18" name="Text 15"/>
          <p:cNvSpPr/>
          <p:nvPr/>
        </p:nvSpPr>
        <p:spPr>
          <a:xfrm>
            <a:off x="896112" y="5175504"/>
            <a:ext cx="4224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13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用户进入 → 看今日风险 → 问诊/检测 → 建档随访 → 饮食运动内容闭环</a:t>
            </a:r>
            <a:endParaRPr lang="en-US" sz="121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4"/>
          </a:solidFill>
          <a:ln w="12700">
            <a:solidFill>
              <a:srgbClr val="F5F8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64373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9326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用户每天打开 App，是为了解决三个问题。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1636776"/>
            <a:ext cx="768096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先判断今天有没有风险，再决定要做什么，最后把记录沉淀到档案里。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58368" y="2359152"/>
            <a:ext cx="3246120" cy="2743200"/>
          </a:xfrm>
          <a:prstGeom prst="roundRect">
            <a:avLst>
              <a:gd name="adj" fmla="val 4667"/>
            </a:avLst>
          </a:prstGeom>
          <a:solidFill>
            <a:srgbClr val="EAF4E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59536" y="2578608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7A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877824" y="318211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今天安全吗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77824" y="3730752"/>
            <a:ext cx="261518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首页把评分、肺结核等重点风险、待办和指标摘要放在第一屏。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89120" y="2359152"/>
            <a:ext cx="3246120" cy="2743200"/>
          </a:xfrm>
          <a:prstGeom prst="roundRect">
            <a:avLst>
              <a:gd name="adj" fmla="val 4667"/>
            </a:avLst>
          </a:prstGeom>
          <a:solidFill>
            <a:srgbClr val="E7ED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90288" y="2578608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E6D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608576" y="318211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下一步做什么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08576" y="3730752"/>
            <a:ext cx="261518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问诊、检测和疾病档案把模糊症状转成可执行动作。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19872" y="2359152"/>
            <a:ext cx="3246120" cy="2743200"/>
          </a:xfrm>
          <a:prstGeom prst="roundRect">
            <a:avLst>
              <a:gd name="adj" fmla="val 4667"/>
            </a:avLst>
          </a:prstGeom>
          <a:solidFill>
            <a:srgbClr val="FFF2C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21040" y="2578608"/>
            <a:ext cx="640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A36A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339328" y="318211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怎样坚持管理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339328" y="3730752"/>
            <a:ext cx="261518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膳食、运动、讲堂和个人档案承接恢复期的日常管理。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05840" y="5669280"/>
            <a:ext cx="10058400" cy="0"/>
          </a:xfrm>
          <a:prstGeom prst="line">
            <a:avLst/>
          </a:prstGeom>
          <a:noFill/>
          <a:ln w="15240">
            <a:solidFill>
              <a:srgbClr val="0D7A6A">
                <a:alpha val="5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5879592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959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汇报主线：看见风险 → 获得建议 → 记录数据 → 持续随访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5"/>
          </a:solidFill>
          <a:ln w="12700">
            <a:solidFill>
              <a:srgbClr val="F7F9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64373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6492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首页先给答案：今天最该关注什么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1636776"/>
            <a:ext cx="62179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第一屏不是入口堆叠，而是把健康评分、重点疾病、待办和服务入口排出优先级。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882128" y="713232"/>
            <a:ext cx="2471805" cy="5349240"/>
          </a:xfrm>
          <a:prstGeom prst="roundRect">
            <a:avLst>
              <a:gd name="adj" fmla="val 8139"/>
            </a:avLst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blurRad="20320" dist="50800" dir="2700000" algn="bl" rotWithShape="0">
              <a:srgbClr val="102421">
                <a:alpha val="18000"/>
              </a:srgbClr>
            </a:outerShdw>
          </a:effectLst>
        </p:spPr>
      </p:sp>
      <p:pic>
        <p:nvPicPr>
          <p:cNvPr id="8" name="Image 0" descr="C:\Users\Administrator\Documents\中医云健康app\outputs\manual-20260608-ppt-redesign\presentations\tcm-health-redesign\screens\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1564" y="772668"/>
            <a:ext cx="2352933" cy="52303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882128" y="6190488"/>
            <a:ext cx="247180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首页健康仪表盘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85800" y="2240280"/>
            <a:ext cx="1508760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32104" y="2368296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健康评分</a:t>
            </a:r>
            <a:endParaRPr lang="en-US" sz="880" dirty="0"/>
          </a:p>
        </p:txBody>
      </p:sp>
      <p:sp>
        <p:nvSpPr>
          <p:cNvPr id="12" name="Text 9"/>
          <p:cNvSpPr/>
          <p:nvPr/>
        </p:nvSpPr>
        <p:spPr>
          <a:xfrm>
            <a:off x="832104" y="258775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7A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92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2395728" y="2240280"/>
            <a:ext cx="1691640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542032" y="236829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重点疾病</a:t>
            </a:r>
            <a:endParaRPr lang="en-US" sz="880" dirty="0"/>
          </a:p>
        </p:txBody>
      </p:sp>
      <p:sp>
        <p:nvSpPr>
          <p:cNvPr id="15" name="Text 12"/>
          <p:cNvSpPr/>
          <p:nvPr/>
        </p:nvSpPr>
        <p:spPr>
          <a:xfrm>
            <a:off x="2542032" y="258775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E6D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肺结核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4343400" y="2240280"/>
            <a:ext cx="1481328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489704" y="2368296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核心入口</a:t>
            </a:r>
            <a:endParaRPr lang="en-US" sz="880" dirty="0"/>
          </a:p>
        </p:txBody>
      </p:sp>
      <p:sp>
        <p:nvSpPr>
          <p:cNvPr id="18" name="Text 15"/>
          <p:cNvSpPr/>
          <p:nvPr/>
        </p:nvSpPr>
        <p:spPr>
          <a:xfrm>
            <a:off x="4489704" y="2587752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36A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 个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713232" y="3474720"/>
            <a:ext cx="82296" cy="82296"/>
          </a:xfrm>
          <a:prstGeom prst="ellipse">
            <a:avLst/>
          </a:prstGeom>
          <a:solidFill>
            <a:srgbClr val="0D7A6A"/>
          </a:solidFill>
          <a:ln w="12700">
            <a:solidFill>
              <a:srgbClr val="0D7A6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7824" y="3401568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3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对传染病管理来说，风险提示比功能入口更重要。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13232" y="3986784"/>
            <a:ext cx="82296" cy="82296"/>
          </a:xfrm>
          <a:prstGeom prst="ellipse">
            <a:avLst/>
          </a:prstGeom>
          <a:solidFill>
            <a:srgbClr val="0D7A6A"/>
          </a:solidFill>
          <a:ln w="12700">
            <a:solidFill>
              <a:srgbClr val="0D7A6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77824" y="3913632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3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底部导航保留主路径，首页只放当天最常用的动作。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13232" y="4498848"/>
            <a:ext cx="82296" cy="82296"/>
          </a:xfrm>
          <a:prstGeom prst="ellipse">
            <a:avLst/>
          </a:prstGeom>
          <a:solidFill>
            <a:srgbClr val="0D7A6A"/>
          </a:solidFill>
          <a:ln w="12700">
            <a:solidFill>
              <a:srgbClr val="0D7A6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77824" y="442569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13201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首屏形成健康状态、疾病风险和下一步行动的组合。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85800" y="5303520"/>
            <a:ext cx="5925312" cy="566928"/>
          </a:xfrm>
          <a:prstGeom prst="roundRect">
            <a:avLst>
              <a:gd name="adj" fmla="val 22581"/>
            </a:avLst>
          </a:prstGeom>
          <a:solidFill>
            <a:srgbClr val="102421"/>
          </a:solidFill>
          <a:ln w="10160">
            <a:solidFill>
              <a:srgbClr val="102421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914400" y="5495544"/>
            <a:ext cx="5440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首页承担“今日健康简报”的角色，让用户不用先学习菜单。</a:t>
            </a:r>
            <a:endParaRPr lang="en-US" sz="112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4"/>
          </a:solidFill>
          <a:ln w="12700">
            <a:solidFill>
              <a:srgbClr val="F5F8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CONSULT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64373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275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问诊不是聊天展示，而是把症状整理成行动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30352" y="1408176"/>
            <a:ext cx="73152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用户输入咳嗽、低热、出汗等症状后，页面给出方向判断、辨证思路和就医提醒。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41248" y="1874520"/>
            <a:ext cx="1880262" cy="4069080"/>
          </a:xfrm>
          <a:prstGeom prst="roundRect">
            <a:avLst>
              <a:gd name="adj" fmla="val 10699"/>
            </a:avLst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blurRad="20320" dist="50800" dir="2700000" algn="bl" rotWithShape="0">
              <a:srgbClr val="102421">
                <a:alpha val="18000"/>
              </a:srgbClr>
            </a:outerShdw>
          </a:effectLst>
        </p:spPr>
      </p:sp>
      <p:pic>
        <p:nvPicPr>
          <p:cNvPr id="8" name="Image 0" descr="C:\Users\Administrator\Documents\中医云健康app\outputs\manual-20260608-ppt-redesign\presentations\tcm-health-redesign\screens\consu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" y="1933956"/>
            <a:ext cx="1761390" cy="39502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6071616"/>
            <a:ext cx="188026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在线问诊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986784" y="1874520"/>
            <a:ext cx="1901952" cy="1591056"/>
          </a:xfrm>
          <a:prstGeom prst="roundRect">
            <a:avLst>
              <a:gd name="adj" fmla="val 8046"/>
            </a:avLst>
          </a:prstGeom>
          <a:solidFill>
            <a:srgbClr val="EAF4E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169664" y="203911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7A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4645152" y="208483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输入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197096" y="27432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症状 + 时长 + 接触史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327648" y="1874520"/>
            <a:ext cx="1901952" cy="1591056"/>
          </a:xfrm>
          <a:prstGeom prst="roundRect">
            <a:avLst>
              <a:gd name="adj" fmla="val 8046"/>
            </a:avLst>
          </a:prstGeom>
          <a:solidFill>
            <a:srgbClr val="E7ED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510528" y="203911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E6D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6986016" y="208483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识别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537960" y="27432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疾病风险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668512" y="1874520"/>
            <a:ext cx="1901952" cy="1591056"/>
          </a:xfrm>
          <a:prstGeom prst="roundRect">
            <a:avLst>
              <a:gd name="adj" fmla="val 8046"/>
            </a:avLst>
          </a:prstGeom>
          <a:solidFill>
            <a:srgbClr val="FFF2C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8851392" y="2039112"/>
            <a:ext cx="411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7A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9326880" y="208483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输出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8878824" y="27432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管理建议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3986784" y="4187952"/>
            <a:ext cx="708660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251960" y="440740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这一页讲清楚 AI 的价值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4251960" y="477316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重点不是回答得像医生，而是把用户说不清的症状拆成结构化信息，帮助他决定是否检测、复诊或调整生活方式。</a:t>
            </a:r>
            <a:endParaRPr lang="en-US" sz="12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5"/>
          </a:solidFill>
          <a:ln w="12700">
            <a:solidFill>
              <a:srgbClr val="F7F9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 DATA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64373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健康检测把一串数字变成风险提示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1636776"/>
            <a:ext cx="62179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体温、血压、血糖、心率、睡眠和步数不只是录入项，而是后续问诊和随访的依据。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955280" y="777240"/>
            <a:ext cx="2429552" cy="5257800"/>
          </a:xfrm>
          <a:prstGeom prst="roundRect">
            <a:avLst>
              <a:gd name="adj" fmla="val 8280"/>
            </a:avLst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blurRad="20320" dist="50800" dir="2700000" algn="bl" rotWithShape="0">
              <a:srgbClr val="102421">
                <a:alpha val="18000"/>
              </a:srgbClr>
            </a:outerShdw>
          </a:effectLst>
        </p:spPr>
      </p:sp>
      <p:pic>
        <p:nvPicPr>
          <p:cNvPr id="8" name="Image 0" descr="C:\Users\Administrator\Documents\中医云健康app\outputs\manual-20260608-ppt-redesign\presentations\tcm-health-redesign\screens\heal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4716" y="836676"/>
            <a:ext cx="2310680" cy="51389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955280" y="6163056"/>
            <a:ext cx="2429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健康检测页面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76656" y="2148840"/>
            <a:ext cx="6217920" cy="22402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60120" y="243230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7 日趋势示意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1060704" y="3335731"/>
            <a:ext cx="310896" cy="395021"/>
          </a:xfrm>
          <a:prstGeom prst="roundRect">
            <a:avLst>
              <a:gd name="adj" fmla="val 17647"/>
            </a:avLst>
          </a:prstGeom>
          <a:solidFill>
            <a:srgbClr val="BBDDD5"/>
          </a:solidFill>
          <a:ln w="12700">
            <a:solidFill>
              <a:srgbClr val="BBDDD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755648" y="3204058"/>
            <a:ext cx="310896" cy="526694"/>
          </a:xfrm>
          <a:prstGeom prst="roundRect">
            <a:avLst>
              <a:gd name="adj" fmla="val 17647"/>
            </a:avLst>
          </a:prstGeom>
          <a:solidFill>
            <a:srgbClr val="BBDDD5"/>
          </a:solidFill>
          <a:ln w="12700">
            <a:solidFill>
              <a:srgbClr val="BBDDD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450592" y="3138221"/>
            <a:ext cx="310896" cy="592531"/>
          </a:xfrm>
          <a:prstGeom prst="roundRect">
            <a:avLst>
              <a:gd name="adj" fmla="val 17647"/>
            </a:avLst>
          </a:prstGeom>
          <a:solidFill>
            <a:srgbClr val="BBDDD5"/>
          </a:solidFill>
          <a:ln w="12700">
            <a:solidFill>
              <a:srgbClr val="BBDDD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145536" y="3050438"/>
            <a:ext cx="310896" cy="680314"/>
          </a:xfrm>
          <a:prstGeom prst="roundRect">
            <a:avLst>
              <a:gd name="adj" fmla="val 17647"/>
            </a:avLst>
          </a:prstGeom>
          <a:solidFill>
            <a:srgbClr val="BBDDD5"/>
          </a:solidFill>
          <a:ln w="12700">
            <a:solidFill>
              <a:srgbClr val="BBDDD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840480" y="2940710"/>
            <a:ext cx="310896" cy="790042"/>
          </a:xfrm>
          <a:prstGeom prst="roundRect">
            <a:avLst>
              <a:gd name="adj" fmla="val 17647"/>
            </a:avLst>
          </a:prstGeom>
          <a:solidFill>
            <a:srgbClr val="BBDDD5"/>
          </a:solidFill>
          <a:ln w="12700">
            <a:solidFill>
              <a:srgbClr val="BBDDD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35424" y="2874874"/>
            <a:ext cx="310896" cy="855878"/>
          </a:xfrm>
          <a:prstGeom prst="roundRect">
            <a:avLst>
              <a:gd name="adj" fmla="val 17647"/>
            </a:avLst>
          </a:prstGeom>
          <a:solidFill>
            <a:srgbClr val="0D7A6A"/>
          </a:solidFill>
          <a:ln w="12700">
            <a:solidFill>
              <a:srgbClr val="0D7A6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230368" y="2765146"/>
            <a:ext cx="310896" cy="965606"/>
          </a:xfrm>
          <a:prstGeom prst="roundRect">
            <a:avLst>
              <a:gd name="adj" fmla="val 17647"/>
            </a:avLst>
          </a:prstGeom>
          <a:solidFill>
            <a:srgbClr val="0D7A6A"/>
          </a:solidFill>
          <a:ln w="12700">
            <a:solidFill>
              <a:srgbClr val="0D7A6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32688" y="3767328"/>
            <a:ext cx="5010912" cy="0"/>
          </a:xfrm>
          <a:prstGeom prst="line">
            <a:avLst/>
          </a:prstGeom>
          <a:noFill/>
          <a:ln w="12700">
            <a:solidFill>
              <a:srgbClr val="DDE8E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13232" y="4828032"/>
            <a:ext cx="1481328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859536" y="4956048"/>
            <a:ext cx="12070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体温</a:t>
            </a:r>
            <a:endParaRPr lang="en-US" sz="880" dirty="0"/>
          </a:p>
        </p:txBody>
      </p:sp>
      <p:sp>
        <p:nvSpPr>
          <p:cNvPr id="22" name="Text 19"/>
          <p:cNvSpPr/>
          <p:nvPr/>
        </p:nvSpPr>
        <p:spPr>
          <a:xfrm>
            <a:off x="859536" y="5175504"/>
            <a:ext cx="1207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7A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36.7°C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2395728" y="4828032"/>
            <a:ext cx="1517904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2542032" y="4956048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血压</a:t>
            </a:r>
            <a:endParaRPr lang="en-US" sz="880" dirty="0"/>
          </a:p>
        </p:txBody>
      </p:sp>
      <p:sp>
        <p:nvSpPr>
          <p:cNvPr id="25" name="Text 22"/>
          <p:cNvSpPr/>
          <p:nvPr/>
        </p:nvSpPr>
        <p:spPr>
          <a:xfrm>
            <a:off x="2542032" y="5175504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E6D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118/76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4096512" y="4828032"/>
            <a:ext cx="1325880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4242816" y="495604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血糖</a:t>
            </a:r>
            <a:endParaRPr lang="en-US" sz="880" dirty="0"/>
          </a:p>
        </p:txBody>
      </p:sp>
      <p:sp>
        <p:nvSpPr>
          <p:cNvPr id="28" name="Text 25"/>
          <p:cNvSpPr/>
          <p:nvPr/>
        </p:nvSpPr>
        <p:spPr>
          <a:xfrm>
            <a:off x="4242816" y="517550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36A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5.6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5596128" y="4828032"/>
            <a:ext cx="1325880" cy="749808"/>
          </a:xfrm>
          <a:prstGeom prst="roundRect">
            <a:avLst>
              <a:gd name="adj" fmla="val 17073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5742432" y="4956048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睡眠</a:t>
            </a:r>
            <a:endParaRPr lang="en-US" sz="880" dirty="0"/>
          </a:p>
        </p:txBody>
      </p:sp>
      <p:sp>
        <p:nvSpPr>
          <p:cNvPr id="31" name="Text 28"/>
          <p:cNvSpPr/>
          <p:nvPr/>
        </p:nvSpPr>
        <p:spPr>
          <a:xfrm>
            <a:off x="5742432" y="517550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7A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7.2h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4"/>
          </a:solidFill>
          <a:ln w="12700">
            <a:solidFill>
              <a:srgbClr val="F5F8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DISEASE MANAGEMENT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64373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041648" y="566928"/>
            <a:ext cx="6995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疾病档案让传染病管理有依据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041648" y="1316736"/>
            <a:ext cx="653796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艾滋病、肺结核、病毒性肝炎、流感、手足口病都有独立管理信息，方便切换重点和持续跟踪。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749808" y="1353312"/>
            <a:ext cx="2260540" cy="4892040"/>
          </a:xfrm>
          <a:prstGeom prst="roundRect">
            <a:avLst>
              <a:gd name="adj" fmla="val 8899"/>
            </a:avLst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blurRad="20320" dist="50800" dir="2700000" algn="bl" rotWithShape="0">
              <a:srgbClr val="102421">
                <a:alpha val="18000"/>
              </a:srgbClr>
            </a:outerShdw>
          </a:effectLst>
        </p:spPr>
      </p:sp>
      <p:pic>
        <p:nvPicPr>
          <p:cNvPr id="8" name="Image 0" descr="C:\Users\Administrator\Documents\中医云健康app\outputs\manual-20260608-ppt-redesign\presentations\tcm-health-redesign\screens\chron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" y="1412748"/>
            <a:ext cx="2141668" cy="4773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9808" y="6373368"/>
            <a:ext cx="22605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传染病管理页面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4041648" y="1847088"/>
            <a:ext cx="6583680" cy="493776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261104" y="1975104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艾滋病</a:t>
            </a:r>
            <a:endParaRPr lang="en-US" sz="1220" dirty="0"/>
          </a:p>
        </p:txBody>
      </p:sp>
      <p:sp>
        <p:nvSpPr>
          <p:cNvPr id="12" name="Text 9"/>
          <p:cNvSpPr/>
          <p:nvPr/>
        </p:nvSpPr>
        <p:spPr>
          <a:xfrm>
            <a:off x="5815584" y="198424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依从性 / 机会感染</a:t>
            </a:r>
            <a:endParaRPr lang="en-US" sz="1060" dirty="0"/>
          </a:p>
        </p:txBody>
      </p:sp>
      <p:sp>
        <p:nvSpPr>
          <p:cNvPr id="13" name="Shape 10"/>
          <p:cNvSpPr/>
          <p:nvPr/>
        </p:nvSpPr>
        <p:spPr>
          <a:xfrm>
            <a:off x="9189720" y="1938528"/>
            <a:ext cx="804672" cy="310896"/>
          </a:xfrm>
          <a:prstGeom prst="roundRect">
            <a:avLst>
              <a:gd name="adj" fmla="val 35294"/>
            </a:avLst>
          </a:prstGeom>
          <a:solidFill>
            <a:srgbClr val="EEF1F0"/>
          </a:solidFill>
          <a:ln w="12700">
            <a:solidFill>
              <a:srgbClr val="EEF1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89720" y="2007108"/>
            <a:ext cx="8046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可切换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041648" y="2505456"/>
            <a:ext cx="6583680" cy="493776"/>
          </a:xfrm>
          <a:prstGeom prst="roundRect">
            <a:avLst>
              <a:gd name="adj" fmla="val 25926"/>
            </a:avLst>
          </a:prstGeom>
          <a:solidFill>
            <a:srgbClr val="EAF4EF"/>
          </a:solidFill>
          <a:ln w="10160">
            <a:solidFill>
              <a:srgbClr val="DDE8E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261104" y="2633472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09594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肺结核</a:t>
            </a:r>
            <a:endParaRPr lang="en-US" sz="1220" dirty="0"/>
          </a:p>
        </p:txBody>
      </p:sp>
      <p:sp>
        <p:nvSpPr>
          <p:cNvPr id="17" name="Text 14"/>
          <p:cNvSpPr/>
          <p:nvPr/>
        </p:nvSpPr>
        <p:spPr>
          <a:xfrm>
            <a:off x="5815584" y="26426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规范治疗 / 通风隔离</a:t>
            </a:r>
            <a:endParaRPr lang="en-US" sz="1060" dirty="0"/>
          </a:p>
        </p:txBody>
      </p:sp>
      <p:sp>
        <p:nvSpPr>
          <p:cNvPr id="18" name="Shape 15"/>
          <p:cNvSpPr/>
          <p:nvPr/>
        </p:nvSpPr>
        <p:spPr>
          <a:xfrm>
            <a:off x="9189720" y="2596896"/>
            <a:ext cx="804672" cy="310896"/>
          </a:xfrm>
          <a:prstGeom prst="roundRect">
            <a:avLst>
              <a:gd name="adj" fmla="val 35294"/>
            </a:avLst>
          </a:prstGeom>
          <a:solidFill>
            <a:srgbClr val="DFF3EE"/>
          </a:solidFill>
          <a:ln w="12700">
            <a:solidFill>
              <a:srgbClr val="DFF3E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89720" y="2665476"/>
            <a:ext cx="8046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7A6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当前重点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4041648" y="3163824"/>
            <a:ext cx="6583680" cy="493776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261104" y="3291840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病毒性肝炎</a:t>
            </a:r>
            <a:endParaRPr lang="en-US" sz="1220" dirty="0"/>
          </a:p>
        </p:txBody>
      </p:sp>
      <p:sp>
        <p:nvSpPr>
          <p:cNvPr id="22" name="Text 19"/>
          <p:cNvSpPr/>
          <p:nvPr/>
        </p:nvSpPr>
        <p:spPr>
          <a:xfrm>
            <a:off x="5815584" y="3300984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肝功 / 病毒载量</a:t>
            </a:r>
            <a:endParaRPr lang="en-US" sz="1060" dirty="0"/>
          </a:p>
        </p:txBody>
      </p:sp>
      <p:sp>
        <p:nvSpPr>
          <p:cNvPr id="23" name="Shape 20"/>
          <p:cNvSpPr/>
          <p:nvPr/>
        </p:nvSpPr>
        <p:spPr>
          <a:xfrm>
            <a:off x="9189720" y="3255264"/>
            <a:ext cx="804672" cy="310896"/>
          </a:xfrm>
          <a:prstGeom prst="roundRect">
            <a:avLst>
              <a:gd name="adj" fmla="val 35294"/>
            </a:avLst>
          </a:prstGeom>
          <a:solidFill>
            <a:srgbClr val="EEF1F0"/>
          </a:solidFill>
          <a:ln w="12700">
            <a:solidFill>
              <a:srgbClr val="EEF1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189720" y="3323844"/>
            <a:ext cx="8046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可切换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041648" y="3822192"/>
            <a:ext cx="6583680" cy="493776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261104" y="3950208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流感</a:t>
            </a:r>
            <a:endParaRPr lang="en-US" sz="1220" dirty="0"/>
          </a:p>
        </p:txBody>
      </p:sp>
      <p:sp>
        <p:nvSpPr>
          <p:cNvPr id="27" name="Text 24"/>
          <p:cNvSpPr/>
          <p:nvPr/>
        </p:nvSpPr>
        <p:spPr>
          <a:xfrm>
            <a:off x="5815584" y="395935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体温 / 呼吸道症状</a:t>
            </a:r>
            <a:endParaRPr lang="en-US" sz="1060" dirty="0"/>
          </a:p>
        </p:txBody>
      </p:sp>
      <p:sp>
        <p:nvSpPr>
          <p:cNvPr id="28" name="Shape 25"/>
          <p:cNvSpPr/>
          <p:nvPr/>
        </p:nvSpPr>
        <p:spPr>
          <a:xfrm>
            <a:off x="9189720" y="3913632"/>
            <a:ext cx="804672" cy="310896"/>
          </a:xfrm>
          <a:prstGeom prst="roundRect">
            <a:avLst>
              <a:gd name="adj" fmla="val 35294"/>
            </a:avLst>
          </a:prstGeom>
          <a:solidFill>
            <a:srgbClr val="EEF1F0"/>
          </a:solidFill>
          <a:ln w="12700">
            <a:solidFill>
              <a:srgbClr val="EEF1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189720" y="3982212"/>
            <a:ext cx="8046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可切换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4041648" y="4480560"/>
            <a:ext cx="6583680" cy="493776"/>
          </a:xfrm>
          <a:prstGeom prst="roundRect">
            <a:avLst>
              <a:gd name="adj" fmla="val 25926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261104" y="4608576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手足口病</a:t>
            </a:r>
            <a:endParaRPr lang="en-US" sz="1220" dirty="0"/>
          </a:p>
        </p:txBody>
      </p:sp>
      <p:sp>
        <p:nvSpPr>
          <p:cNvPr id="32" name="Text 29"/>
          <p:cNvSpPr/>
          <p:nvPr/>
        </p:nvSpPr>
        <p:spPr>
          <a:xfrm>
            <a:off x="5815584" y="46177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皮疹 / 儿童观察</a:t>
            </a:r>
            <a:endParaRPr lang="en-US" sz="1060" dirty="0"/>
          </a:p>
        </p:txBody>
      </p:sp>
      <p:sp>
        <p:nvSpPr>
          <p:cNvPr id="33" name="Shape 30"/>
          <p:cNvSpPr/>
          <p:nvPr/>
        </p:nvSpPr>
        <p:spPr>
          <a:xfrm>
            <a:off x="9189720" y="4572000"/>
            <a:ext cx="804672" cy="310896"/>
          </a:xfrm>
          <a:prstGeom prst="roundRect">
            <a:avLst>
              <a:gd name="adj" fmla="val 35294"/>
            </a:avLst>
          </a:prstGeom>
          <a:solidFill>
            <a:srgbClr val="EEF1F0"/>
          </a:solidFill>
          <a:ln w="12700">
            <a:solidFill>
              <a:srgbClr val="EEF1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9189720" y="4640580"/>
            <a:ext cx="8046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可切换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041648" y="5413248"/>
            <a:ext cx="6583680" cy="621792"/>
          </a:xfrm>
          <a:prstGeom prst="roundRect">
            <a:avLst>
              <a:gd name="adj" fmla="val 20588"/>
            </a:avLst>
          </a:prstGeom>
          <a:solidFill>
            <a:srgbClr val="102421"/>
          </a:solidFill>
          <a:ln w="10160">
            <a:solidFill>
              <a:srgbClr val="102421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4315968" y="5623560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这里承接的是“长期可管”的能力：疾病、症状、提醒和档案形成基础数据层。</a:t>
            </a:r>
            <a:endParaRPr lang="en-US" sz="112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5"/>
          </a:solidFill>
          <a:ln w="12700">
            <a:solidFill>
              <a:srgbClr val="F7F9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CLOSED LOOP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64373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9464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康复管理落到吃、动、学、记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530352" y="1280160"/>
            <a:ext cx="726948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问诊和检测之后，用户需要的是可执行的生活安排：怎么吃、何时运动、看什么内容、如何沉淀记录。</a:t>
            </a:r>
            <a:endParaRPr lang="en-US" sz="1220" dirty="0"/>
          </a:p>
        </p:txBody>
      </p:sp>
      <p:pic>
        <p:nvPicPr>
          <p:cNvPr id="7" name="Image 0" descr="C:\Users\Administrator\Documents\中医云健康app\outputs\manual-20260608-ppt-redesign\presentations\tcm-health-redesign\assets\redesign-flow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84848" y="1856232"/>
            <a:ext cx="4114800" cy="2240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3232" y="2139696"/>
            <a:ext cx="2487168" cy="896112"/>
          </a:xfrm>
          <a:prstGeom prst="roundRect">
            <a:avLst>
              <a:gd name="adj" fmla="val 14286"/>
            </a:avLst>
          </a:prstGeom>
          <a:solidFill>
            <a:srgbClr val="EAF4E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77824" y="23042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膳食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77824" y="26334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按恢复期给出清淡高蛋白和忌口</a:t>
            </a:r>
            <a:endParaRPr lang="en-US" sz="1040" dirty="0"/>
          </a:p>
        </p:txBody>
      </p:sp>
      <p:sp>
        <p:nvSpPr>
          <p:cNvPr id="11" name="Shape 8"/>
          <p:cNvSpPr/>
          <p:nvPr/>
        </p:nvSpPr>
        <p:spPr>
          <a:xfrm>
            <a:off x="3566160" y="2139696"/>
            <a:ext cx="2487168" cy="896112"/>
          </a:xfrm>
          <a:prstGeom prst="roundRect">
            <a:avLst>
              <a:gd name="adj" fmla="val 14286"/>
            </a:avLst>
          </a:prstGeom>
          <a:solidFill>
            <a:srgbClr val="E7ED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730752" y="23042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体质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730752" y="26334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用九种体质结果解释调理方向</a:t>
            </a:r>
            <a:endParaRPr lang="en-US" sz="1040" dirty="0"/>
          </a:p>
        </p:txBody>
      </p:sp>
      <p:sp>
        <p:nvSpPr>
          <p:cNvPr id="14" name="Shape 11"/>
          <p:cNvSpPr/>
          <p:nvPr/>
        </p:nvSpPr>
        <p:spPr>
          <a:xfrm>
            <a:off x="713232" y="3364992"/>
            <a:ext cx="2487168" cy="896112"/>
          </a:xfrm>
          <a:prstGeom prst="roundRect">
            <a:avLst>
              <a:gd name="adj" fmla="val 14286"/>
            </a:avLst>
          </a:prstGeom>
          <a:solidFill>
            <a:srgbClr val="FFF2C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77824" y="352958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运动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77824" y="38587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发热期暂停，恢复期轻量活动</a:t>
            </a:r>
            <a:endParaRPr lang="en-US" sz="1040" dirty="0"/>
          </a:p>
        </p:txBody>
      </p:sp>
      <p:sp>
        <p:nvSpPr>
          <p:cNvPr id="17" name="Shape 14"/>
          <p:cNvSpPr/>
          <p:nvPr/>
        </p:nvSpPr>
        <p:spPr>
          <a:xfrm>
            <a:off x="3566160" y="3364992"/>
            <a:ext cx="2487168" cy="89611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3730752" y="352958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内容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3730752" y="38587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讲堂和百科承接科普、收藏、复查</a:t>
            </a:r>
            <a:endParaRPr lang="en-US" sz="1040" dirty="0"/>
          </a:p>
        </p:txBody>
      </p:sp>
      <p:sp>
        <p:nvSpPr>
          <p:cNvPr id="20" name="Shape 17"/>
          <p:cNvSpPr/>
          <p:nvPr/>
        </p:nvSpPr>
        <p:spPr>
          <a:xfrm>
            <a:off x="7360920" y="4187952"/>
            <a:ext cx="921117" cy="1993392"/>
          </a:xfrm>
          <a:prstGeom prst="roundRect">
            <a:avLst>
              <a:gd name="adj" fmla="val 21840"/>
            </a:avLst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blurRad="20320" dist="50800" dir="2700000" algn="bl" rotWithShape="0">
              <a:srgbClr val="102421">
                <a:alpha val="18000"/>
              </a:srgbClr>
            </a:outerShdw>
          </a:effectLst>
        </p:spPr>
      </p:sp>
      <p:pic>
        <p:nvPicPr>
          <p:cNvPr id="21" name="Image 1" descr="C:\Users\Administrator\Documents\中医云健康app\outputs\manual-20260608-ppt-redesign\presentations\tcm-health-redesign\screens\lectu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0356" y="4247388"/>
            <a:ext cx="802245" cy="187452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360920" y="6309360"/>
            <a:ext cx="92111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讲堂内容页面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9308592" y="4187952"/>
            <a:ext cx="921117" cy="1993392"/>
          </a:xfrm>
          <a:prstGeom prst="roundRect">
            <a:avLst>
              <a:gd name="adj" fmla="val 21840"/>
            </a:avLst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blurRad="20320" dist="50800" dir="2700000" algn="bl" rotWithShape="0">
              <a:srgbClr val="102421">
                <a:alpha val="18000"/>
              </a:srgbClr>
            </a:outerShdw>
          </a:effectLst>
        </p:spPr>
      </p:sp>
      <p:pic>
        <p:nvPicPr>
          <p:cNvPr id="24" name="Image 2" descr="C:\Users\Administrator\Documents\中医云健康app\outputs\manual-20260608-ppt-redesign\presentations\tcm-health-redesign\screens\profi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8028" y="4247388"/>
            <a:ext cx="802245" cy="18745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9308592" y="6309360"/>
            <a:ext cx="92111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个人档案页面</a:t>
            </a:r>
            <a:endParaRPr lang="en-US" sz="8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4"/>
          </a:solidFill>
          <a:ln w="12700">
            <a:solidFill>
              <a:srgbClr val="F5F8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64373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7406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技术实现保持轻量，方便手机实测。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1636776"/>
            <a:ext cx="68580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 mock 和 localStorage 支撑完整流程，Capacitor 负责同步到 Android 项目并生成 APK。</a:t>
            </a:r>
            <a:endParaRPr lang="en-US" sz="1350" dirty="0"/>
          </a:p>
        </p:txBody>
      </p:sp>
      <p:pic>
        <p:nvPicPr>
          <p:cNvPr id="7" name="Image 0" descr="C:\Users\Administrator\Documents\中医云健康app\outputs\manual-20260608-ppt-redesign\presentations\tcm-health-redesign\assets\redesign-abstract-care.sv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03720" y="960120"/>
            <a:ext cx="4114800" cy="23317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13232" y="2788920"/>
            <a:ext cx="1600200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59536" y="297180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0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Vite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59536" y="3328416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页面构建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340864" y="3282696"/>
            <a:ext cx="457200" cy="0"/>
          </a:xfrm>
          <a:prstGeom prst="line">
            <a:avLst/>
          </a:prstGeom>
          <a:noFill/>
          <a:ln w="19050">
            <a:solidFill>
              <a:srgbClr val="0D7A6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889504" y="2788920"/>
            <a:ext cx="1600200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035808" y="297180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0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TypeScript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035808" y="3328416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交互逻辑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517136" y="3282696"/>
            <a:ext cx="457200" cy="0"/>
          </a:xfrm>
          <a:prstGeom prst="line">
            <a:avLst/>
          </a:prstGeom>
          <a:noFill/>
          <a:ln w="19050">
            <a:solidFill>
              <a:srgbClr val="0D7A6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065776" y="2788920"/>
            <a:ext cx="1600200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212080" y="297180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0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localStorage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212080" y="3328416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本地数据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693408" y="3282696"/>
            <a:ext cx="457200" cy="0"/>
          </a:xfrm>
          <a:prstGeom prst="line">
            <a:avLst/>
          </a:prstGeom>
          <a:noFill/>
          <a:ln w="19050">
            <a:solidFill>
              <a:srgbClr val="0D7A6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242048" y="2788920"/>
            <a:ext cx="1600200" cy="987552"/>
          </a:xfrm>
          <a:prstGeom prst="roundRect">
            <a:avLst>
              <a:gd name="adj" fmla="val 12963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7388352" y="297180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01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Capacitor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388352" y="3328416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Android WebView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8869680" y="3282696"/>
            <a:ext cx="457200" cy="0"/>
          </a:xfrm>
          <a:prstGeom prst="line">
            <a:avLst/>
          </a:prstGeom>
          <a:noFill/>
          <a:ln w="19050">
            <a:solidFill>
              <a:srgbClr val="0D7A6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418320" y="2788920"/>
            <a:ext cx="1600200" cy="987552"/>
          </a:xfrm>
          <a:prstGeom prst="roundRect">
            <a:avLst>
              <a:gd name="adj" fmla="val 12963"/>
            </a:avLst>
          </a:prstGeom>
          <a:solidFill>
            <a:srgbClr val="102421"/>
          </a:solidFill>
          <a:ln w="10160">
            <a:solidFill>
              <a:srgbClr val="102421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9564624" y="297180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APK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9564624" y="3328416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7EF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手机测试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713232" y="4773168"/>
            <a:ext cx="5120640" cy="822960"/>
          </a:xfrm>
          <a:prstGeom prst="roundRect">
            <a:avLst>
              <a:gd name="adj" fmla="val 15556"/>
            </a:avLst>
          </a:prstGeom>
          <a:solidFill>
            <a:srgbClr val="EAF4E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932688" y="498348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9594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MVP 取舍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2148840" y="49560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先保证登录、问诊、检测、档案和收藏流程跑通；后端同步和真实模型可作为下一阶段接入。</a:t>
            </a:r>
            <a:endParaRPr lang="en-US" sz="106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5"/>
          </a:solidFill>
          <a:ln w="12700">
            <a:solidFill>
              <a:srgbClr val="F7F9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64373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5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核心能力已经形成可演示闭环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530352" y="1316736"/>
            <a:ext cx="676656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这版不是静态原型，关键交互都能在本地数据里产生状态变化，适合放到手机上走完整演示。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084832"/>
            <a:ext cx="1668997" cy="3611880"/>
          </a:xfrm>
          <a:prstGeom prst="roundRect">
            <a:avLst>
              <a:gd name="adj" fmla="val 12053"/>
            </a:avLst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blurRad="20320" dist="50800" dir="2700000" algn="bl" rotWithShape="0">
              <a:srgbClr val="102421">
                <a:alpha val="18000"/>
              </a:srgbClr>
            </a:outerShdw>
          </a:effectLst>
        </p:spPr>
      </p:sp>
      <p:pic>
        <p:nvPicPr>
          <p:cNvPr id="8" name="Image 0" descr="C:\Users\Administrator\Documents\中医云健康app\outputs\manual-20260608-ppt-redesign\presentations\tcm-health-redesign\screens\au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" y="2144268"/>
            <a:ext cx="1550125" cy="34930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5824728"/>
            <a:ext cx="166899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登录页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779776" y="2084832"/>
            <a:ext cx="1668997" cy="3611880"/>
          </a:xfrm>
          <a:prstGeom prst="roundRect">
            <a:avLst>
              <a:gd name="adj" fmla="val 12053"/>
            </a:avLst>
          </a:prstGeom>
          <a:solidFill>
            <a:srgbClr val="FFFFFF"/>
          </a:solidFill>
          <a:ln w="12700">
            <a:solidFill>
              <a:srgbClr val="DDE8E2"/>
            </a:solidFill>
            <a:prstDash val="solid"/>
          </a:ln>
          <a:effectLst>
            <a:outerShdw blurRad="20320" dist="50800" dir="2700000" algn="bl" rotWithShape="0">
              <a:srgbClr val="102421">
                <a:alpha val="18000"/>
              </a:srgbClr>
            </a:outerShdw>
          </a:effectLst>
        </p:spPr>
      </p:sp>
      <p:pic>
        <p:nvPicPr>
          <p:cNvPr id="11" name="Image 1" descr="C:\Users\Administrator\Documents\中医云健康app\outputs\manual-20260608-ppt-redesign\presentations\tcm-health-redesign\screens\h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9212" y="2144268"/>
            <a:ext cx="1550125" cy="34930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779776" y="5824728"/>
            <a:ext cx="166899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5577840" y="1938528"/>
            <a:ext cx="525780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715000" y="212140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9594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账号进入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601968" y="2103120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登录/注册后进入首页，并保存用户状态。</a:t>
            </a:r>
            <a:endParaRPr lang="en-US" sz="1060" dirty="0"/>
          </a:p>
        </p:txBody>
      </p:sp>
      <p:sp>
        <p:nvSpPr>
          <p:cNvPr id="16" name="Shape 12"/>
          <p:cNvSpPr/>
          <p:nvPr/>
        </p:nvSpPr>
        <p:spPr>
          <a:xfrm>
            <a:off x="5577840" y="2834640"/>
            <a:ext cx="5257800" cy="621792"/>
          </a:xfrm>
          <a:prstGeom prst="roundRect">
            <a:avLst>
              <a:gd name="adj" fmla="val 20588"/>
            </a:avLst>
          </a:prstGeom>
          <a:solidFill>
            <a:srgbClr val="EAF4EF"/>
          </a:solidFill>
          <a:ln w="10160">
            <a:solidFill>
              <a:srgbClr val="DDE8E2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715000" y="301752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9594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数据记录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6601968" y="2999232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健康检测提交后更新最近记录和风险状态。</a:t>
            </a:r>
            <a:endParaRPr lang="en-US" sz="1060" dirty="0"/>
          </a:p>
        </p:txBody>
      </p:sp>
      <p:sp>
        <p:nvSpPr>
          <p:cNvPr id="19" name="Shape 15"/>
          <p:cNvSpPr/>
          <p:nvPr/>
        </p:nvSpPr>
        <p:spPr>
          <a:xfrm>
            <a:off x="5577840" y="3730752"/>
            <a:ext cx="5257800" cy="621792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715000" y="391363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9594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问诊反馈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6601968" y="3895344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输入不同症状，生成差异化的模拟 AI 建议。</a:t>
            </a:r>
            <a:endParaRPr lang="en-US" sz="1060" dirty="0"/>
          </a:p>
        </p:txBody>
      </p:sp>
      <p:sp>
        <p:nvSpPr>
          <p:cNvPr id="22" name="Shape 18"/>
          <p:cNvSpPr/>
          <p:nvPr/>
        </p:nvSpPr>
        <p:spPr>
          <a:xfrm>
            <a:off x="5577840" y="4626864"/>
            <a:ext cx="5257800" cy="621792"/>
          </a:xfrm>
          <a:prstGeom prst="roundRect">
            <a:avLst>
              <a:gd name="adj" fmla="val 20588"/>
            </a:avLst>
          </a:prstGeom>
          <a:solidFill>
            <a:srgbClr val="EAF4EF"/>
          </a:solidFill>
          <a:ln w="10160">
            <a:solidFill>
              <a:srgbClr val="DDE8E2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715000" y="480974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9594F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内容收藏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6601968" y="4791456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讲堂收藏能切换，设置页可清除本地数据。</a:t>
            </a:r>
            <a:endParaRPr lang="en-US" sz="106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4"/>
          </a:solidFill>
          <a:ln w="12700">
            <a:solidFill>
              <a:srgbClr val="F5F8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3474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D7A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1201400" y="6437376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BA8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66928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3201D"/>
                </a:solidFill>
                <a:latin typeface="Microsoft YaHei UI" pitchFamily="34" charset="0"/>
                <a:ea typeface="Microsoft YaHei UI" pitchFamily="34" charset="-122"/>
                <a:cs typeface="Microsoft YaHei UI" pitchFamily="34" charset="-120"/>
              </a:rPr>
              <a:t>下一步：从演示版走向真实服务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30352" y="1636776"/>
            <a:ext cx="73152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当前版本已经满足手机测试和课程汇报；继续扩展时，重点是数据同步、医护协作和真实模型能力。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13232" y="2148840"/>
            <a:ext cx="3063240" cy="868680"/>
          </a:xfrm>
          <a:prstGeom prst="roundRect">
            <a:avLst>
              <a:gd name="adj" fmla="val 14737"/>
            </a:avLst>
          </a:prstGeom>
          <a:solidFill>
            <a:srgbClr val="EAF4E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23317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A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后端同步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764792" y="2359152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用户档案、检测记录和收藏跨设备保存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4325112" y="2148840"/>
            <a:ext cx="3063240" cy="868680"/>
          </a:xfrm>
          <a:prstGeom prst="roundRect">
            <a:avLst>
              <a:gd name="adj" fmla="val 14737"/>
            </a:avLst>
          </a:prstGeom>
          <a:solidFill>
            <a:srgbClr val="E7ED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07992" y="23317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A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医护端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76672" y="2359152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随访任务、复诊提醒、异常指标查看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7936992" y="2148840"/>
            <a:ext cx="3063240" cy="868680"/>
          </a:xfrm>
          <a:prstGeom prst="roundRect">
            <a:avLst>
              <a:gd name="adj" fmla="val 14737"/>
            </a:avLst>
          </a:prstGeom>
          <a:solidFill>
            <a:srgbClr val="FFF2C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119872" y="23317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A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模型接入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988552" y="2359152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把模拟回复替换成真实大模型服务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713232" y="3410712"/>
            <a:ext cx="306324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6112" y="359359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A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推送提醒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764792" y="3621024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用药、复诊、检测和课程学习提醒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4325112" y="3410712"/>
            <a:ext cx="3063240" cy="868680"/>
          </a:xfrm>
          <a:prstGeom prst="roundRect">
            <a:avLst>
              <a:gd name="adj" fmla="val 14737"/>
            </a:avLst>
          </a:prstGeom>
          <a:solidFill>
            <a:srgbClr val="FFFFFF"/>
          </a:solidFill>
          <a:ln w="10160">
            <a:solidFill>
              <a:srgbClr val="DDE8E2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07992" y="359359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7A6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数据合规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376672" y="3621024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63716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权限、隐私说明和医学内容审核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713232" y="5102352"/>
            <a:ext cx="10442448" cy="658368"/>
          </a:xfrm>
          <a:prstGeom prst="roundRect">
            <a:avLst>
              <a:gd name="adj" fmla="val 19444"/>
            </a:avLst>
          </a:prstGeom>
          <a:solidFill>
            <a:srgbClr val="102421"/>
          </a:solidFill>
          <a:ln w="10160">
            <a:solidFill>
              <a:srgbClr val="102421"/>
            </a:solidFill>
            <a:prstDash val="solid"/>
          </a:ln>
          <a:effectLst>
            <a:outerShdw blurRad="15240" dist="50800" dir="2700000" algn="bl" rotWithShape="0">
              <a:srgbClr val="102421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87552" y="5321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汇报结尾：这是一个可运行的移动健康管理 App，后续升级方向清晰。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350">
        <p:fade thruBlk="1"/>
      </p:transition>
    </mc:Choice>
    <mc:Fallback>
      <p:transition>
        <p:fade thruBlk="1"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412</Words>
  <Application>Microsoft Office PowerPoint</Application>
  <PresentationFormat>宽屏</PresentationFormat>
  <Paragraphs>160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Microsoft YaHei UI</vt:lpstr>
      <vt:lpstr>Microsoft YaHei</vt:lpstr>
      <vt:lpstr>Aptos</vt:lpstr>
      <vt:lpstr>Aptos Display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中医云健康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中医云健康App汇报-新版</dc:title>
  <dc:subject>中医云健康 App 汇报新版</dc:subject>
  <dc:creator>Codex</dc:creator>
  <cp:lastModifiedBy>慕 倾</cp:lastModifiedBy>
  <cp:revision>2</cp:revision>
  <dcterms:created xsi:type="dcterms:W3CDTF">2026-06-12T07:29:15Z</dcterms:created>
  <dcterms:modified xsi:type="dcterms:W3CDTF">2026-06-12T07:29:31Z</dcterms:modified>
</cp:coreProperties>
</file>